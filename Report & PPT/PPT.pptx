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89" r:id="rId12"/>
    <p:sldId id="265" r:id="rId13"/>
    <p:sldId id="266" r:id="rId14"/>
    <p:sldId id="280" r:id="rId15"/>
    <p:sldId id="290" r:id="rId16"/>
    <p:sldId id="277" r:id="rId17"/>
    <p:sldId id="272" r:id="rId18"/>
    <p:sldId id="281" r:id="rId19"/>
    <p:sldId id="273" r:id="rId20"/>
    <p:sldId id="275" r:id="rId21"/>
    <p:sldId id="283" r:id="rId22"/>
    <p:sldId id="284" r:id="rId23"/>
    <p:sldId id="287" r:id="rId24"/>
    <p:sldId id="285" r:id="rId25"/>
    <p:sldId id="286" r:id="rId26"/>
    <p:sldId id="270" r:id="rId27"/>
    <p:sldId id="276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tags" Target="../tags/tag1.xml"/><Relationship Id="rId2" Type="http://schemas.microsoft.com/office/2007/relationships/media" Target="file:///C:\Users\samay\Downloads\1-python.mp4" TargetMode="External"/><Relationship Id="rId1" Type="http://schemas.openxmlformats.org/officeDocument/2006/relationships/video" Target="file:///C:\Users\samay\Downloads\1-python.mp4" TargetMode="Externa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3.png"/><Relationship Id="rId3" Type="http://schemas.openxmlformats.org/officeDocument/2006/relationships/tags" Target="../tags/tag2.xml"/><Relationship Id="rId2" Type="http://schemas.microsoft.com/office/2007/relationships/media" Target="file:///C:\Users\samay\Downloads\2-arduino.mp4" TargetMode="External"/><Relationship Id="rId1" Type="http://schemas.openxmlformats.org/officeDocument/2006/relationships/video" Target="file:///C:\Users\samay\Downloads\2-arduino.mp4" TargetMode="Externa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png"/><Relationship Id="rId3" Type="http://schemas.openxmlformats.org/officeDocument/2006/relationships/tags" Target="../tags/tag3.xml"/><Relationship Id="rId2" Type="http://schemas.microsoft.com/office/2007/relationships/media" Target="file:///C:\Users\samay\Downloads\3-web%20app.mp4" TargetMode="External"/><Relationship Id="rId1" Type="http://schemas.openxmlformats.org/officeDocument/2006/relationships/video" Target="file:///C:\Users\samay\Downloads\3-web%20app.mp4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3840480"/>
            <a:ext cx="5943600" cy="1303020"/>
          </a:xfrm>
          <a:prstGeom prst="rect">
            <a:avLst/>
          </a:prstGeom>
          <a:solidFill>
            <a:srgbClr val="0A1E2D"/>
          </a:solidFill>
          <a:ln w="12700">
            <a:solidFill>
              <a:srgbClr val="0A1E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28600"/>
            <a:ext cx="2834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RAMAIAH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INSTITUTE OF TECHNOLOGY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560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2834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Electronics &amp;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8E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Instrumentation Engineering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3383280" y="457200"/>
            <a:ext cx="54864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BREAD QUALITY</a:t>
            </a:r>
            <a:endParaRPr lang="en-US" sz="3400" b="1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INDICATOR SYSTEM</a:t>
            </a:r>
            <a:endParaRPr lang="en-US" sz="3400" b="1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87452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</a:t>
            </a:r>
            <a:endParaRPr lang="en-US" sz="1400" b="1" kern="0" spc="200" dirty="0">
              <a:solidFill>
                <a:srgbClr val="F5A62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224028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Samay Thakur   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(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MS23E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044)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" y="258775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Vinod Naik      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(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MS24E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404)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" y="293522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Naveen L         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(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MS23E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034)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4592" y="3282696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Subham K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umar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Singh 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MS23E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053)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BY: </a:t>
            </a:r>
            <a:r>
              <a:rPr lang="en-IN" alt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M K Pushpa</a:t>
            </a:r>
            <a:r>
              <a:rPr 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Dept. of E</a:t>
            </a:r>
            <a:r>
              <a:rPr lang="en-IN" alt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</a:t>
            </a:r>
            <a:endParaRPr lang="en-IN" altLang="en-US" sz="1400" b="1" dirty="0">
              <a:solidFill>
                <a:srgbClr val="8AABB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42519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</a:t>
            </a:r>
            <a:r>
              <a:rPr lang="en-IN" alt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</a:t>
            </a:r>
            <a:r>
              <a:rPr lang="en-IN" alt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–2</a:t>
            </a:r>
            <a:r>
              <a:rPr lang="en-IN" altLang="en-US" sz="1400" b="1" dirty="0">
                <a:solidFill>
                  <a:srgbClr val="8AAB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IN" altLang="en-US" sz="1400" b="1" dirty="0">
              <a:solidFill>
                <a:srgbClr val="8AABB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0" y="393192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600" b="1" kern="0" spc="400" dirty="0">
                <a:solidFill>
                  <a:srgbClr val="A8DC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EIP-67 </a:t>
            </a:r>
            <a:r>
              <a:rPr lang="en-US" sz="1600" b="1" kern="0" spc="400" dirty="0">
                <a:solidFill>
                  <a:srgbClr val="A8DC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PROJECT</a:t>
            </a:r>
            <a:endParaRPr lang="en-US" sz="1600" b="1" kern="0" spc="400" dirty="0">
              <a:solidFill>
                <a:srgbClr val="A8DCD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77265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7235" y="1005713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554353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35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7235" y="1546606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of the Project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0035" y="2146681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035" y="214350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7235" y="2147189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of the Project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0035" y="2770759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7075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7235" y="2754122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0035" y="3397377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035" y="33808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7235" y="3424555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Diagra</a:t>
            </a: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IN" alt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0035" y="4037965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035" y="40392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235" y="4065143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Components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650740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035" y="461772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IN" alt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7235" y="4677918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Implementation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977138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6761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IN" alt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20640" y="1005586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Components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1568196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56883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300" b="1" dirty="0">
                <a:solidFill>
                  <a:schemeClr val="bg1"/>
                </a:solidFill>
              </a:rPr>
              <a:t>9</a:t>
            </a:r>
            <a:endParaRPr lang="en-IN" altLang="en-US" sz="1300" b="1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20640" y="1554734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Implementation &amp; Code</a:t>
            </a:r>
            <a:endParaRPr 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63440" y="2169414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16115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IN" alt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20640" y="2754122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</a:t>
            </a: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IN" alt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2726817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76936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300" b="1" dirty="0">
                <a:solidFill>
                  <a:schemeClr val="bg1"/>
                </a:solidFill>
              </a:rPr>
              <a:t>11</a:t>
            </a:r>
            <a:endParaRPr lang="en-IN" altLang="en-US" sz="1300" b="1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20640" y="336931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Behaviour </a:t>
            </a:r>
            <a:endParaRPr lang="en-IN" alt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4663440" y="3369437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r>
              <a:rPr lang="en-IN" altLang="en-US" b="1">
                <a:solidFill>
                  <a:schemeClr val="bg1"/>
                </a:solidFill>
              </a:rPr>
              <a:t>12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5120640" y="222440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Software Implementation &amp; Code</a:t>
            </a: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 WEB APP)</a:t>
            </a:r>
            <a:endParaRPr lang="en-IN" alt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4663440" y="3985387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r>
              <a:rPr lang="en-IN" altLang="en-US" b="1">
                <a:solidFill>
                  <a:schemeClr val="bg1"/>
                </a:solidFill>
              </a:rPr>
              <a:t>13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5120640" y="403796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Conclusion </a:t>
            </a:r>
            <a:endParaRPr lang="en-IN" alt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4663440" y="4617847"/>
            <a:ext cx="457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r>
              <a:rPr lang="en-IN" altLang="en-US" b="1">
                <a:solidFill>
                  <a:schemeClr val="bg1"/>
                </a:solidFill>
              </a:rPr>
              <a:t>14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5165725" y="465074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Ref</a:t>
            </a:r>
            <a:r>
              <a:rPr lang="en-US" altLang="en-IN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</a:t>
            </a:r>
            <a:r>
              <a:rPr lang="en-IN" altLang="en-US" sz="14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rences </a:t>
            </a:r>
            <a:endParaRPr lang="en-IN" altLang="en-US" sz="14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33272"/>
            <a:ext cx="39776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Manual Inspection Fails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spoilage detection relies on visual checks by humans, missing early-stage mold or invisible toxic gases.</a:t>
            </a:r>
            <a:endParaRPr lang="en-US" sz="12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33272"/>
            <a:ext cx="39776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🦠  Invisible Contamination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39319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2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Gases released during the initial bread spoilage are not detectable .</a:t>
            </a:r>
            <a:endParaRPr lang="en-US" altLang="en-US" sz="12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27889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88920"/>
            <a:ext cx="42062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816352"/>
            <a:ext cx="39776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💸  Food &amp; Economic Loss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39319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2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Households, bakeries, and supermarkets suffer losses when spoiled bread is not detected in time.</a:t>
            </a:r>
            <a:endParaRPr lang="en-US" altLang="en-US" sz="12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88920"/>
            <a:ext cx="42062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816352"/>
            <a:ext cx="39776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Health Risks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3246120"/>
            <a:ext cx="39319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2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Consuming spoiled bread can cause health issues such as food poisoning and respiratory problems.</a:t>
            </a:r>
            <a:endParaRPr lang="en-US" altLang="en-US" sz="12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OF THE PROJECT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" cy="7040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33856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338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77724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b="1" dirty="0"/>
              <a:t>Develop a real-time system to detect bread spoilage using ESP32-CAM and MQ135 gas sensor.</a:t>
            </a:r>
            <a:endParaRPr lang="en-US" alt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868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801368"/>
            <a:ext cx="64008" cy="7040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29384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938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1892808"/>
            <a:ext cx="77724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b="1" dirty="0"/>
              <a:t>Analysis of bread spoilage using image base detection with the help of trained kagggel dataset</a:t>
            </a:r>
            <a:endParaRPr lang="en-US" altLang="en-US" sz="1300" b="1" dirty="0"/>
          </a:p>
        </p:txBody>
      </p:sp>
      <p:sp>
        <p:nvSpPr>
          <p:cNvPr id="15" name="Shape 13"/>
          <p:cNvSpPr/>
          <p:nvPr/>
        </p:nvSpPr>
        <p:spPr>
          <a:xfrm>
            <a:off x="228600" y="2596896"/>
            <a:ext cx="868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596896"/>
            <a:ext cx="64008" cy="7040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724912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249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688336"/>
            <a:ext cx="77724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b="1" dirty="0">
                <a:sym typeface="+mn-ea"/>
              </a:rPr>
              <a:t>Detecting gas levels released during bread spoilage using MQ135 sensor.</a:t>
            </a:r>
            <a:endParaRPr lang="en-US" altLang="en-US" sz="1300" b="1" dirty="0"/>
          </a:p>
          <a:p>
            <a:pPr marL="0" indent="0">
              <a:buNone/>
            </a:pPr>
            <a:endParaRPr lang="en-US" altLang="en-US" sz="1300" b="1" dirty="0"/>
          </a:p>
        </p:txBody>
      </p:sp>
      <p:sp>
        <p:nvSpPr>
          <p:cNvPr id="20" name="Shape 18"/>
          <p:cNvSpPr/>
          <p:nvPr/>
        </p:nvSpPr>
        <p:spPr>
          <a:xfrm>
            <a:off x="228600" y="3392424"/>
            <a:ext cx="868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392424"/>
            <a:ext cx="64008" cy="7040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2044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204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0120" y="3483864"/>
            <a:ext cx="77724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b="1" dirty="0">
                <a:sym typeface="+mn-ea"/>
              </a:rPr>
              <a:t>Use threshold-based logic to classify bread as fresh or spoiled.</a:t>
            </a:r>
            <a:endParaRPr lang="en-US" altLang="en-US" sz="1300" b="1" dirty="0"/>
          </a:p>
          <a:p>
            <a:pPr marL="0" indent="0">
              <a:buNone/>
            </a:pPr>
            <a:endParaRPr lang="en-US" altLang="en-US" sz="1300" b="1" dirty="0"/>
          </a:p>
        </p:txBody>
      </p:sp>
      <p:sp>
        <p:nvSpPr>
          <p:cNvPr id="25" name="Shape 23"/>
          <p:cNvSpPr/>
          <p:nvPr/>
        </p:nvSpPr>
        <p:spPr>
          <a:xfrm>
            <a:off x="228600" y="4187952"/>
            <a:ext cx="868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187952"/>
            <a:ext cx="64008" cy="7040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315968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159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4279392"/>
            <a:ext cx="77724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b="1" dirty="0">
                <a:sym typeface="+mn-ea"/>
              </a:rPr>
              <a:t>Provide visual (LED) and audio (buzzer) alerts when spoilage is detected.</a:t>
            </a:r>
            <a:endParaRPr lang="en-US" altLang="en-US" sz="13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OF THE PROJECT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15568"/>
            <a:ext cx="2633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Bread Type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" y="1508760"/>
            <a:ext cx="263347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White bread — most commonly found in households, bakeries, and supermarkets.</a:t>
            </a:r>
            <a:endParaRPr lang="en-US" sz="11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27248" y="100584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100584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115568"/>
            <a:ext cx="2633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Methods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36976" y="1508760"/>
            <a:ext cx="263347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150" b="1" dirty="0"/>
              <a:t>Gas sensor-based spoilage detection using MQ135 with reference to image-based analysis.</a:t>
            </a:r>
            <a:endParaRPr lang="en-US" altLang="en-US" sz="1150" b="1" dirty="0"/>
          </a:p>
        </p:txBody>
      </p:sp>
      <p:sp>
        <p:nvSpPr>
          <p:cNvPr id="13" name="Shape 11"/>
          <p:cNvSpPr/>
          <p:nvPr/>
        </p:nvSpPr>
        <p:spPr>
          <a:xfrm>
            <a:off x="6071616" y="100584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00584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115568"/>
            <a:ext cx="2633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Context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81344" y="1508760"/>
            <a:ext cx="263347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Standalone alone device</a:t>
            </a:r>
            <a:endParaRPr lang="en-US" sz="11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92608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035808"/>
            <a:ext cx="2633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" y="3429000"/>
            <a:ext cx="263347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indoor storage areas: kitchens, pantries, bakery counters.</a:t>
            </a:r>
            <a:endParaRPr lang="en-US" sz="11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27248" y="29260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27248" y="292608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6976" y="3035808"/>
            <a:ext cx="2633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Alert Mechanism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36976" y="3429000"/>
            <a:ext cx="263347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150" b="1" dirty="0">
                <a:sym typeface="+mn-ea"/>
              </a:rPr>
              <a:t>Red LED ,</a:t>
            </a:r>
            <a:r>
              <a:rPr lang="en-US" altLang="en-US" sz="1150" b="1" dirty="0">
                <a:sym typeface="+mn-ea"/>
              </a:rPr>
              <a:t> buzzer on for spoiled bread</a:t>
            </a:r>
            <a:r>
              <a:rPr lang="en-US" altLang="en-US" sz="1150" b="1" dirty="0">
                <a:sym typeface="+mn-ea"/>
              </a:rPr>
              <a:t>.</a:t>
            </a:r>
            <a:endParaRPr lang="en-US" altLang="en-US" sz="1150" b="1" dirty="0">
              <a:sym typeface="+mn-ea"/>
            </a:endParaRPr>
          </a:p>
          <a:p>
            <a:pPr marL="0" indent="0">
              <a:buNone/>
            </a:pPr>
            <a:r>
              <a:rPr lang="en-US" altLang="en-US" sz="1150" b="1" dirty="0">
                <a:sym typeface="+mn-ea"/>
              </a:rPr>
              <a:t>Green LED ,no buzzer for good quality bread.</a:t>
            </a:r>
            <a:endParaRPr lang="en-US" altLang="en-US" sz="1150" b="1" dirty="0">
              <a:sym typeface="+mn-ea"/>
            </a:endParaRPr>
          </a:p>
          <a:p>
            <a:pPr marL="0" indent="0">
              <a:buNone/>
            </a:pPr>
            <a:endParaRPr lang="en-US" altLang="en-US" sz="1150" b="1" dirty="0">
              <a:sym typeface="+mn-ea"/>
            </a:endParaRPr>
          </a:p>
          <a:p>
            <a:pPr marL="0" indent="0">
              <a:buNone/>
            </a:pPr>
            <a:endParaRPr lang="en-US" altLang="en-US" sz="1150" b="1" dirty="0"/>
          </a:p>
        </p:txBody>
      </p:sp>
      <p:sp>
        <p:nvSpPr>
          <p:cNvPr id="27" name="Text 25"/>
          <p:cNvSpPr/>
          <p:nvPr/>
        </p:nvSpPr>
        <p:spPr>
          <a:xfrm>
            <a:off x="6181344" y="3035808"/>
            <a:ext cx="2633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81344" y="3429000"/>
            <a:ext cx="263347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altLang="en-US" sz="11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36576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" y="96012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</a:t>
            </a:r>
            <a:endParaRPr lang="en-US" sz="11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256032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960120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 of the Work</a:t>
            </a:r>
            <a:endParaRPr lang="en-US" altLang="en-US" sz="11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92608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960120"/>
            <a:ext cx="28895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 / Gap Addressed</a:t>
            </a:r>
            <a:endParaRPr lang="en-US" altLang="en-US" sz="11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74320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96012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Result</a:t>
            </a:r>
            <a:endParaRPr lang="en-US" sz="11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2880" y="1371600"/>
            <a:ext cx="365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08176"/>
            <a:ext cx="29260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1371600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408176"/>
            <a:ext cx="248716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P. Warden et al., “TensorFlow Lite Micro for Embedded AI on ESP32,” IEEE Embedded Systems Letters, Vol. 12, Issue 4, 2020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408176"/>
            <a:ext cx="285292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lightweight AI models on low-power embedded systems for real-time bread quality classification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137160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08176"/>
            <a:ext cx="267004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Demonstrated that ESP32 can run optimized ML inference with low memory and power consumption for edge AI applications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2880" y="2075688"/>
            <a:ext cx="36576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112264"/>
            <a:ext cx="29260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2075688"/>
            <a:ext cx="256032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112264"/>
            <a:ext cx="248716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0" y="2075688"/>
            <a:ext cx="292608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112264"/>
            <a:ext cx="285292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spoilage gases such as ammonia, VOCs, and methane emitted from stale or moldy bread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72200" y="2075688"/>
            <a:ext cx="274320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112264"/>
            <a:ext cx="267004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MQ-series sensors successfully identified spoilage conditions using gas concentration thresholds in real time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2880" y="2779776"/>
            <a:ext cx="365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816352"/>
            <a:ext cx="29260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" y="2779776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16352"/>
            <a:ext cx="248716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00400" y="2779776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816352"/>
            <a:ext cx="285292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visual inspection accuracy of bread using AI image classification techniques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72200" y="277977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816352"/>
            <a:ext cx="267004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models achieved high accuracy in detecting mold growth and surface contamination from captured images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82880" y="3483864"/>
            <a:ext cx="36576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520440"/>
            <a:ext cx="29260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94360" y="3483864"/>
            <a:ext cx="256032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520440"/>
            <a:ext cx="248716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00400" y="3483864"/>
            <a:ext cx="292608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520440"/>
            <a:ext cx="285292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develop an AI-based CNN model for early detection of mold growth in bread using microscopic image classification and deep learning techniques.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172200" y="3483864"/>
            <a:ext cx="2743200" cy="658368"/>
          </a:xfrm>
          <a:prstGeom prst="rect">
            <a:avLst/>
          </a:prstGeom>
          <a:solidFill>
            <a:srgbClr val="EAF5F5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557905"/>
            <a:ext cx="2670175" cy="567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9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CNN model achieved near-perfect detection performance with F1-scores of 0.9948 for white bread and 0.9972 for whole wheat bread, enabling accurate early-stage mold detection.</a:t>
            </a:r>
            <a:endParaRPr lang="en-US" altLang="en-US" sz="9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82880" y="4187952"/>
            <a:ext cx="365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224528"/>
            <a:ext cx="29260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4224782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224528"/>
            <a:ext cx="248716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J. Patel et al., “IoT-Based Smart Food Quality Monitoring System,” IEEE Access, Vol. 9, Paper ID 98745, 2021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200400" y="4187952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4224528"/>
            <a:ext cx="285292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monitoring systems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172200" y="415112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224528"/>
            <a:ext cx="2670048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food quality monitoring and reduces spoilage</a:t>
            </a:r>
            <a:endParaRPr lang="en-US" alt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6" name="Table 85"/>
          <p:cNvGraphicFramePr/>
          <p:nvPr/>
        </p:nvGraphicFramePr>
        <p:xfrm>
          <a:off x="733425" y="2102485"/>
          <a:ext cx="2400935" cy="594995"/>
        </p:xfrm>
        <a:graphic>
          <a:graphicData uri="http://schemas.openxmlformats.org/drawingml/2006/table">
            <a:tbl>
              <a:tblPr/>
              <a:tblGrid>
                <a:gridCol w="2400935"/>
              </a:tblGrid>
              <a:tr h="594995">
                <a:tc>
                  <a:txBody>
                    <a:bodyPr/>
                    <a:p>
                      <a:r>
                        <a:rPr lang="en-US" altLang="en-US" sz="1100" b="1"/>
                        <a:t>S. Lee et al., “MQ Gas Sensor-Based Food Spoilage Detection System,” IEEE Sensors Journal, Vol. 21, Issue 8, 2021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 56"/>
          <p:cNvGraphicFramePr/>
          <p:nvPr/>
        </p:nvGraphicFramePr>
        <p:xfrm>
          <a:off x="594360" y="2612390"/>
          <a:ext cx="2559685" cy="167640"/>
        </p:xfrm>
        <a:graphic>
          <a:graphicData uri="http://schemas.openxmlformats.org/drawingml/2006/table">
            <a:tbl>
              <a:tblPr/>
              <a:tblGrid>
                <a:gridCol w="2559685"/>
              </a:tblGrid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 57"/>
          <p:cNvGraphicFramePr/>
          <p:nvPr/>
        </p:nvGraphicFramePr>
        <p:xfrm>
          <a:off x="695325" y="2780030"/>
          <a:ext cx="2459355" cy="670560"/>
        </p:xfrm>
        <a:graphic>
          <a:graphicData uri="http://schemas.openxmlformats.org/drawingml/2006/table">
            <a:tbl>
              <a:tblPr/>
              <a:tblGrid>
                <a:gridCol w="2459355"/>
              </a:tblGrid>
              <a:tr h="670560">
                <a:tc>
                  <a:txBody>
                    <a:bodyPr/>
                    <a:p>
                      <a:r>
                        <a:rPr lang="en-US" altLang="zh-CN" sz="1100" b="1"/>
                        <a:t>A. Kumar et al., “CNN-Based Mold Detection in Food Products,” IEEE Access, Vol. 9, Paper ID 145632, 2021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 59"/>
          <p:cNvGraphicFramePr/>
          <p:nvPr/>
        </p:nvGraphicFramePr>
        <p:xfrm>
          <a:off x="707390" y="3437890"/>
          <a:ext cx="2493010" cy="670560"/>
        </p:xfrm>
        <a:graphic>
          <a:graphicData uri="http://schemas.openxmlformats.org/drawingml/2006/table">
            <a:tbl>
              <a:tblPr/>
              <a:tblGrid>
                <a:gridCol w="2493010"/>
              </a:tblGrid>
              <a:tr h="670560">
                <a:tc>
                  <a:txBody>
                    <a:bodyPr/>
                    <a:p>
                      <a:r>
                        <a:rPr lang="en-US" altLang="zh-CN" sz="1100" b="1"/>
                        <a:t>H. Zhang et al., “CNN-Based Detection of Moldy Bread Using Deep Learning Image Classification,” IEEE Access, Vol. 10, Paper ID 118742, 2022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DIAGRAM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600" y="3863340"/>
            <a:ext cx="8778240" cy="128143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4105" y="669925"/>
            <a:ext cx="4086860" cy="4424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COMPONENTS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6984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ESP32-CAM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240 MHz dual-core, 520 KB SRAM, OV2640 2MP camera, Wi-Fi + BT, 4MB flash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08960" y="135331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4830" y="1069975"/>
            <a:ext cx="123126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controller + image capture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6400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6984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MQ-135 Gas Sensor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64608" y="135331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NH₃, CO₂, NOx, benzene; analog output 0–5V; sensitivity adj. via potentiometer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89520" y="135331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136245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Gas spoilage detection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" y="201168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011680"/>
            <a:ext cx="64008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07568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Buzzer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" y="235915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5V active buzzer, 85 dB, continuous tone on HIGH signal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08960" y="235915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36829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Audible spoilage alert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011680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07568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LED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64608" y="235915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5mm red LED, 2V forward voltage, 10 mA max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89520" y="235915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935" y="2368550"/>
            <a:ext cx="122047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b="1" dirty="0"/>
          </a:p>
        </p:txBody>
      </p:sp>
      <p:sp>
        <p:nvSpPr>
          <p:cNvPr id="29" name="Shape 27"/>
          <p:cNvSpPr/>
          <p:nvPr/>
        </p:nvSpPr>
        <p:spPr>
          <a:xfrm>
            <a:off x="182880" y="301752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017520"/>
            <a:ext cx="6400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8152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LED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4048" y="336499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5mm green LED, 2V forward voltage, 10 mA max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108960" y="336499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337413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freshness indicator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01752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017520"/>
            <a:ext cx="64008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08152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Breadboard + Jumper Wires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64608" y="336499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830-point breadboard; male-to-male + female-to-female jumper wires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589520" y="336499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07808" y="337413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Prototyping &amp; connections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2880" y="402336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4023360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08736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FTDI Programmer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84048" y="437083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USB-to-serial converter for programming ESP32-CAM (no built-in USB)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108960" y="437083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27248" y="437997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Firmware upload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663440" y="402336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4023360"/>
            <a:ext cx="6400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08736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Module-MB-102</a:t>
            </a:r>
            <a:endParaRPr lang="en-US" sz="13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64608" y="4370832"/>
            <a:ext cx="2651760" cy="493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5v supply from the power source</a:t>
            </a:r>
            <a:endParaRPr lang="en-US" sz="9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589520" y="4370832"/>
            <a:ext cx="1234440" cy="475488"/>
          </a:xfrm>
          <a:prstGeom prst="rect">
            <a:avLst/>
          </a:prstGeom>
          <a:solidFill>
            <a:srgbClr val="EAF5F5"/>
          </a:solidFill>
          <a:ln w="6350">
            <a:solidFill>
              <a:srgbClr val="D0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07808" y="437997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power</a:t>
            </a:r>
            <a:endParaRPr lang="en-US" sz="900" b="1" i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3245" y="1051560"/>
            <a:ext cx="1240155" cy="848995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245" y="2075815"/>
            <a:ext cx="1263650" cy="758825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rcRect l="-1159" t="-1920" r="-11865" b="1920"/>
          <a:stretch>
            <a:fillRect/>
          </a:stretch>
        </p:blipFill>
        <p:spPr>
          <a:xfrm>
            <a:off x="3114040" y="3355975"/>
            <a:ext cx="1300480" cy="462915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815" y="4087495"/>
            <a:ext cx="1642745" cy="83820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935" y="1069975"/>
            <a:ext cx="1246505" cy="747395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300" y="3267075"/>
            <a:ext cx="1562100" cy="59182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7994015" y="1912620"/>
            <a:ext cx="518160" cy="132588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 flipH="1">
            <a:off x="3386455" y="2876550"/>
            <a:ext cx="641350" cy="1243965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300" y="4050030"/>
            <a:ext cx="1221105" cy="814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IMPLEMENTATION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0" y="466344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Circuit Prototype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82880" y="1005840"/>
            <a:ext cx="457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00584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9808" y="102412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FTDI Programmer</a:t>
            </a:r>
            <a:endParaRPr lang="en-US" sz="12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9808" y="126187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to ESP32-CAM IO0→GND for flash mode.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TX→RX, RX→TX cross-connected.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82880" y="1783080"/>
            <a:ext cx="457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" y="178308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49808" y="180136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MQ-135 Wiring</a:t>
            </a:r>
            <a:endParaRPr lang="en-US" sz="12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9808" y="203911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VCC→</a:t>
            </a:r>
            <a:r>
              <a:rPr lang="en-IN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V, GND→GND, AOUT→GPIO</a:t>
            </a:r>
            <a:r>
              <a:rPr lang="en-IN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(ADC pin) 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ESP32-CAM.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82880" y="2560320"/>
            <a:ext cx="457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56032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49808" y="257860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 Connections</a:t>
            </a:r>
            <a:endParaRPr lang="en-US" sz="12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9808" y="281635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LED → GPIO</a:t>
            </a:r>
            <a:r>
              <a:rPr lang="en-IN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via 220Ω resistor. Green LED → GPIO</a:t>
            </a:r>
            <a:r>
              <a:rPr lang="en-IN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220Ω resistor.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82880" y="3337560"/>
            <a:ext cx="457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333756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49808" y="335584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 Wiring</a:t>
            </a:r>
            <a:endParaRPr lang="en-US" sz="12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49808" y="359359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buzzer positive → GPIO</a:t>
            </a:r>
            <a:r>
              <a:rPr lang="en-IN" alt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negative → GND.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82880" y="4114800"/>
            <a:ext cx="457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2880" y="411480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49808" y="413308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&amp; Ground</a:t>
            </a:r>
            <a:endParaRPr lang="en-US" sz="120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49808" y="437083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ESP32-CAM powered at 5V via FTDI. All GND rails 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tied together on breadboard.</a:t>
            </a:r>
            <a:endParaRPr lang="en-US" sz="105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5" name="Picture 4" descr="Screenshot 2026-05-06 2105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9095" y="1161415"/>
            <a:ext cx="4937760" cy="34651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COMPONENTS</a:t>
            </a:r>
            <a:endParaRPr 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2519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4241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&amp; Programming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IDE 2.</a:t>
            </a:r>
            <a:r>
              <a:rPr lang="en-IN" alt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30.80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</a:t>
            </a:r>
            <a:r>
              <a:rPr lang="en-US" altLang="en-US" sz="1150" b="1" dirty="0"/>
              <a:t>used for ESP32-CAM programming</a:t>
            </a:r>
            <a:endParaRPr lang="en-US" altLang="en-US" sz="1150" b="1" dirty="0"/>
          </a:p>
        </p:txBody>
      </p:sp>
      <p:sp>
        <p:nvSpPr>
          <p:cNvPr id="9" name="Text 7"/>
          <p:cNvSpPr/>
          <p:nvPr/>
        </p:nvSpPr>
        <p:spPr>
          <a:xfrm>
            <a:off x="370840" y="216839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</a:t>
            </a:r>
            <a:r>
              <a:rPr lang="en-IN" alt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10.11</a:t>
            </a:r>
            <a:r>
              <a:rPr lang="en-US" sz="10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CNN model training &amp; conversion</a:t>
            </a:r>
            <a:r>
              <a:rPr lang="en-IN" altLang="en-US" sz="10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NOTE:-(SPECIFIC MODEL-</a:t>
            </a:r>
            <a:r>
              <a:rPr lang="en-US" altLang="en-US" sz="10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compatibility</a:t>
            </a:r>
            <a:r>
              <a:rPr lang="en-IN" altLang="en-US" sz="10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altLang="en-US" sz="10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precompiled software works only with specific versions of Python and system architecture. If the versions match, the program runs without errors; otherwise, it fails</a:t>
            </a:r>
            <a:r>
              <a:rPr lang="en-IN" altLang="en-US" sz="100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IN" altLang="en-US" sz="1000" b="1" dirty="0">
              <a:solidFill>
                <a:srgbClr val="1A2E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b="1" dirty="0"/>
          </a:p>
        </p:txBody>
      </p:sp>
      <p:sp>
        <p:nvSpPr>
          <p:cNvPr id="11" name="Shape 9"/>
          <p:cNvSpPr/>
          <p:nvPr/>
        </p:nvSpPr>
        <p:spPr>
          <a:xfrm>
            <a:off x="4645152" y="100584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1005840"/>
            <a:ext cx="42519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4241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 Framework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82312" y="148132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/ Keras — </a:t>
            </a:r>
            <a:r>
              <a:rPr lang="en-US" altLang="en-US" sz="1150" b="1" dirty="0"/>
              <a:t>used for conceptual understanding </a:t>
            </a:r>
            <a:r>
              <a:rPr lang="en-IN" altLang="en-US" sz="1150" b="1" dirty="0"/>
              <a:t>                 </a:t>
            </a:r>
            <a:r>
              <a:rPr lang="en-US" altLang="en-US" sz="1150" b="1" dirty="0"/>
              <a:t>of image classification (THESE ARE PYTHON LIBRARIES)</a:t>
            </a:r>
            <a:endParaRPr lang="en-US" altLang="en-US" sz="1150" b="1" dirty="0"/>
          </a:p>
        </p:txBody>
      </p:sp>
      <p:sp>
        <p:nvSpPr>
          <p:cNvPr id="15" name="Text 13"/>
          <p:cNvSpPr/>
          <p:nvPr/>
        </p:nvSpPr>
        <p:spPr>
          <a:xfrm>
            <a:off x="4782312" y="2203323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altLang="en-US" sz="1150" b="1" dirty="0"/>
          </a:p>
        </p:txBody>
      </p:sp>
      <p:sp>
        <p:nvSpPr>
          <p:cNvPr id="16" name="Text 14"/>
          <p:cNvSpPr/>
          <p:nvPr/>
        </p:nvSpPr>
        <p:spPr>
          <a:xfrm>
            <a:off x="4782312" y="239572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b="1" dirty="0"/>
          </a:p>
        </p:txBody>
      </p:sp>
      <p:sp>
        <p:nvSpPr>
          <p:cNvPr id="17" name="Shape 15"/>
          <p:cNvSpPr/>
          <p:nvPr/>
        </p:nvSpPr>
        <p:spPr>
          <a:xfrm>
            <a:off x="182880" y="301752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017520"/>
            <a:ext cx="4251960" cy="384048"/>
          </a:xfrm>
          <a:prstGeom prst="rect">
            <a:avLst/>
          </a:prstGeom>
          <a:solidFill>
            <a:srgbClr val="0F2A3D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05409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Training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349300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15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15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150" b="1" dirty="0">
              <a:solidFill>
                <a:srgbClr val="0D73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150" b="1" dirty="0"/>
              <a:t>Kaggle Moldy Bread Dataset — used for conceptual understanding</a:t>
            </a:r>
            <a:endParaRPr lang="en-US" altLang="en-US" sz="1150" b="1" dirty="0"/>
          </a:p>
          <a:p>
            <a:pPr marL="0" indent="0">
              <a:buNone/>
            </a:pPr>
            <a:r>
              <a:rPr lang="en-IN" altLang="en-US" sz="1150" b="1" dirty="0"/>
              <a:t>80% of dataset- training</a:t>
            </a:r>
            <a:endParaRPr lang="en-IN" altLang="en-US" sz="1150" b="1" dirty="0"/>
          </a:p>
          <a:p>
            <a:pPr marL="0" indent="0">
              <a:buNone/>
            </a:pPr>
            <a:r>
              <a:rPr lang="en-IN" altLang="en-US" sz="1150" b="1" dirty="0"/>
              <a:t>20% of dataset-training</a:t>
            </a:r>
            <a:endParaRPr lang="en-IN" altLang="en-US" sz="1150" b="1" dirty="0"/>
          </a:p>
          <a:p>
            <a:pPr marL="0" indent="0">
              <a:buNone/>
            </a:pPr>
            <a:r>
              <a:rPr lang="en-IN" altLang="en-US" sz="1150" b="1" dirty="0"/>
              <a:t>15 epochs</a:t>
            </a:r>
            <a:endParaRPr lang="en-IN" altLang="en-US" sz="1150" b="1" dirty="0"/>
          </a:p>
          <a:p>
            <a:pPr marL="0" indent="0">
              <a:buNone/>
            </a:pPr>
            <a:endParaRPr lang="en-IN" altLang="en-US" sz="1150" b="1" dirty="0"/>
          </a:p>
        </p:txBody>
      </p:sp>
      <p:sp>
        <p:nvSpPr>
          <p:cNvPr id="21" name="Text 19"/>
          <p:cNvSpPr/>
          <p:nvPr/>
        </p:nvSpPr>
        <p:spPr>
          <a:xfrm>
            <a:off x="320040" y="395020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b="1" dirty="0"/>
          </a:p>
        </p:txBody>
      </p:sp>
      <p:sp>
        <p:nvSpPr>
          <p:cNvPr id="22" name="Text 20"/>
          <p:cNvSpPr/>
          <p:nvPr/>
        </p:nvSpPr>
        <p:spPr>
          <a:xfrm>
            <a:off x="320040" y="440740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b="1" dirty="0"/>
          </a:p>
        </p:txBody>
      </p:sp>
      <p:sp>
        <p:nvSpPr>
          <p:cNvPr id="23" name="Shape 21"/>
          <p:cNvSpPr/>
          <p:nvPr/>
        </p:nvSpPr>
        <p:spPr>
          <a:xfrm>
            <a:off x="4645152" y="301752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3017520"/>
            <a:ext cx="4251960" cy="384048"/>
          </a:xfrm>
          <a:prstGeom prst="rect">
            <a:avLst/>
          </a:prstGeom>
          <a:solidFill>
            <a:srgbClr val="0F2A3D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5409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Libraries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82312" y="349300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esp_camera.h — </a:t>
            </a:r>
            <a:r>
              <a:rPr lang="en-US" altLang="en-US" sz="1150" b="1" dirty="0"/>
              <a:t>image capture from ESP32-CAM</a:t>
            </a:r>
            <a:endParaRPr lang="en-US" altLang="en-US" sz="1150" b="1" dirty="0"/>
          </a:p>
        </p:txBody>
      </p:sp>
      <p:sp>
        <p:nvSpPr>
          <p:cNvPr id="27" name="Text 25"/>
          <p:cNvSpPr/>
          <p:nvPr/>
        </p:nvSpPr>
        <p:spPr>
          <a:xfrm>
            <a:off x="4782312" y="395020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analogRead() — </a:t>
            </a:r>
            <a:r>
              <a:rPr lang="en-US" altLang="en-US" sz="1150" b="1" dirty="0"/>
              <a:t>MQ135 gas sensor reading</a:t>
            </a:r>
            <a:endParaRPr lang="en-US" altLang="en-US" sz="1150" b="1" dirty="0"/>
          </a:p>
        </p:txBody>
      </p:sp>
      <p:sp>
        <p:nvSpPr>
          <p:cNvPr id="28" name="Text 26"/>
          <p:cNvSpPr/>
          <p:nvPr/>
        </p:nvSpPr>
        <p:spPr>
          <a:xfrm>
            <a:off x="4782312" y="4407408"/>
            <a:ext cx="3977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b="1" dirty="0">
                <a:solidFill>
                  <a:srgbClr val="1A2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digitalWrite() — </a:t>
            </a:r>
            <a:r>
              <a:rPr lang="en-US" altLang="en-US" sz="1150" b="1" dirty="0"/>
              <a:t>LED and buzzer control</a:t>
            </a:r>
            <a:endParaRPr lang="en-US" altLang="en-US" sz="11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</a:rPr>
              <a:t>CNN model for bread indicator using ML(Python Code)</a:t>
            </a:r>
            <a:endParaRPr lang="en-US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778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2400935" cy="39319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55" y="960120"/>
            <a:ext cx="2016125" cy="3984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5" y="884555"/>
            <a:ext cx="2037715" cy="4060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90" y="946785"/>
            <a:ext cx="2246630" cy="3997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</a:rPr>
              <a:t>CNN model for bread indicator using ML(Python Code)</a:t>
            </a:r>
            <a:endParaRPr lang="en-US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778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29005"/>
            <a:ext cx="1934210" cy="3962400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749935"/>
            <a:ext cx="4859020" cy="1868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010" y="2585085"/>
            <a:ext cx="6285865" cy="23069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27305" y="50165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305" y="50165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295" y="159893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</a:rPr>
              <a:t>CNN model for bread indicator using ML(</a:t>
            </a:r>
            <a:r>
              <a:rPr lang="en-IN" altLang="en-US" sz="2600" b="1" u="sng" dirty="0">
                <a:solidFill>
                  <a:srgbClr val="F9FBFA"/>
                </a:solidFill>
              </a:rPr>
              <a:t>Formula’s using in the </a:t>
            </a:r>
            <a:r>
              <a:rPr lang="en-US" altLang="en-US" sz="2600" b="1" u="sng" dirty="0">
                <a:solidFill>
                  <a:srgbClr val="F9FBFA"/>
                </a:solidFill>
                <a:sym typeface="+mn-ea"/>
              </a:rPr>
              <a:t>Python Code</a:t>
            </a:r>
            <a:r>
              <a:rPr lang="en-US" altLang="en-US" sz="2600" b="1" u="sng" dirty="0">
                <a:solidFill>
                  <a:srgbClr val="F9FBFA"/>
                </a:solidFill>
              </a:rPr>
              <a:t>)</a:t>
            </a:r>
            <a:endParaRPr lang="en-US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295" y="1079500"/>
            <a:ext cx="8778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" y="1079500"/>
            <a:ext cx="2647950" cy="21031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95" y="1079500"/>
            <a:ext cx="4067175" cy="19697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335" y="3328670"/>
            <a:ext cx="2863215" cy="16656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IMPLEMENTATION — </a:t>
            </a:r>
            <a:r>
              <a:rPr lang="en-IN" alt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altLang="en-US" sz="2600" b="1" u="sng" dirty="0">
                <a:solidFill>
                  <a:srgbClr val="F9FBFA"/>
                </a:solidFill>
              </a:rPr>
              <a:t>Dataset &amp; Image Analysis (Reference for AI Training)</a:t>
            </a:r>
            <a:r>
              <a:rPr lang="en-IN" altLang="en-US" sz="2600" b="1" u="sng" dirty="0">
                <a:solidFill>
                  <a:srgbClr val="F9FBFA"/>
                </a:solidFill>
              </a:rPr>
              <a:t>]</a:t>
            </a:r>
            <a:endParaRPr lang="en-IN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8" name="Shape 3"/>
          <p:cNvSpPr/>
          <p:nvPr/>
        </p:nvSpPr>
        <p:spPr>
          <a:xfrm>
            <a:off x="182880" y="960120"/>
            <a:ext cx="8778240" cy="4082415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85" y="1646555"/>
            <a:ext cx="1508125" cy="15982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935" y="1711960"/>
            <a:ext cx="1927860" cy="13525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285" y="3302000"/>
            <a:ext cx="2346960" cy="124968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892175" y="1106170"/>
            <a:ext cx="2973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solidFill>
                  <a:schemeClr val="bg1"/>
                </a:solidFill>
              </a:rPr>
              <a:t>Fresh Bread (Reference Samples)</a:t>
            </a:r>
            <a:endParaRPr lang="en-US" altLang="en-US" sz="1400" b="1">
              <a:solidFill>
                <a:schemeClr val="bg1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360" y="1787525"/>
            <a:ext cx="1744345" cy="130873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060" y="1787525"/>
            <a:ext cx="1964055" cy="129095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3244850"/>
            <a:ext cx="2309495" cy="153035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5274310" y="1221105"/>
            <a:ext cx="26993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chemeClr val="bg1"/>
                </a:solidFill>
              </a:rPr>
              <a:t>Moldy Bread (Reference Samples)</a:t>
            </a:r>
            <a:endParaRPr lang="en-US" altLang="en-US" sz="1400">
              <a:solidFill>
                <a:schemeClr val="bg1"/>
              </a:solidFill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1518285" y="4608830"/>
            <a:ext cx="5958205" cy="37655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200" b="1">
                <a:solidFill>
                  <a:schemeClr val="bg1"/>
                </a:solidFill>
              </a:rPr>
              <a:t>These images are used to understand visual differences between fresh and moldy bread and for future AI-based detection</a:t>
            </a:r>
            <a:r>
              <a:rPr lang="en-IN" altLang="en-US" sz="1200" b="1">
                <a:solidFill>
                  <a:schemeClr val="bg1"/>
                </a:solidFill>
              </a:rPr>
              <a:t>.</a:t>
            </a:r>
            <a:endParaRPr lang="en-IN" altLang="en-US" sz="12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IN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Arduino Code for ESP32-CAM</a:t>
            </a:r>
            <a:endParaRPr lang="en-US" altLang="en-IN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82880" y="960120"/>
            <a:ext cx="8778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1894840" cy="4273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960120"/>
            <a:ext cx="2075180" cy="4101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20" y="868680"/>
            <a:ext cx="2416175" cy="4265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960120"/>
            <a:ext cx="2308860" cy="42335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Shape 0"/>
          <p:cNvSpPr/>
          <p:nvPr/>
        </p:nvSpPr>
        <p:spPr>
          <a:xfrm>
            <a:off x="4572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1"/>
          <p:cNvSpPr/>
          <p:nvPr/>
        </p:nvSpPr>
        <p:spPr>
          <a:xfrm>
            <a:off x="4572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27432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IN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Arduino Code for ESP32-CAM</a:t>
            </a:r>
            <a:endParaRPr lang="en-US" altLang="en-IN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228600" y="960120"/>
            <a:ext cx="8778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60120"/>
            <a:ext cx="1894840" cy="40138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960120"/>
            <a:ext cx="1922780" cy="40963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960120"/>
            <a:ext cx="1752600" cy="2667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420" y="2292985"/>
            <a:ext cx="3741420" cy="25374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</a:rPr>
              <a:t>Web App Code</a:t>
            </a:r>
            <a:endParaRPr lang="en-US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958215"/>
            <a:ext cx="8778240" cy="4096385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" y="749935"/>
            <a:ext cx="2534920" cy="43268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355" y="744855"/>
            <a:ext cx="2186305" cy="43097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40" y="669290"/>
            <a:ext cx="2275840" cy="44075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970" y="624205"/>
            <a:ext cx="2040255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  <a:sym typeface="+mn-ea"/>
              </a:rPr>
              <a:t>Web App Code</a:t>
            </a:r>
            <a:endParaRPr lang="en-IN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11" name="Shape 3"/>
          <p:cNvSpPr/>
          <p:nvPr/>
        </p:nvSpPr>
        <p:spPr>
          <a:xfrm>
            <a:off x="228600" y="900430"/>
            <a:ext cx="8778240" cy="4096385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837565"/>
            <a:ext cx="1845310" cy="4159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120" y="837565"/>
            <a:ext cx="1769745" cy="4219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865" y="777240"/>
            <a:ext cx="1704340" cy="43662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777240"/>
            <a:ext cx="1539240" cy="42202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445" y="749935"/>
            <a:ext cx="2069465" cy="43376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  <a:sym typeface="+mn-ea"/>
              </a:rPr>
              <a:t>Web App Code</a:t>
            </a:r>
            <a:endParaRPr lang="en-IN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11" name="Shape 3"/>
          <p:cNvSpPr/>
          <p:nvPr/>
        </p:nvSpPr>
        <p:spPr>
          <a:xfrm>
            <a:off x="228600" y="956945"/>
            <a:ext cx="8778240" cy="4096385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" y="797560"/>
            <a:ext cx="2084070" cy="41992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15" y="805815"/>
            <a:ext cx="2135505" cy="419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185" y="708660"/>
            <a:ext cx="2221230" cy="42475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980" y="708660"/>
            <a:ext cx="2511425" cy="42881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600" b="1" u="sng" dirty="0">
                <a:solidFill>
                  <a:srgbClr val="F9FBFA"/>
                </a:solidFill>
                <a:sym typeface="+mn-ea"/>
              </a:rPr>
              <a:t>Web App Code</a:t>
            </a:r>
            <a:endParaRPr lang="en-IN" altLang="en-US" sz="2600" b="1" u="sng" dirty="0">
              <a:solidFill>
                <a:srgbClr val="F9FBFA"/>
              </a:solidFill>
            </a:endParaRPr>
          </a:p>
        </p:txBody>
      </p:sp>
      <p:sp>
        <p:nvSpPr>
          <p:cNvPr id="11" name="Shape 3"/>
          <p:cNvSpPr/>
          <p:nvPr/>
        </p:nvSpPr>
        <p:spPr>
          <a:xfrm>
            <a:off x="228600" y="956945"/>
            <a:ext cx="8778240" cy="4096385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" y="749935"/>
            <a:ext cx="2105660" cy="43033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515" y="749935"/>
            <a:ext cx="1553210" cy="1115060"/>
          </a:xfrm>
          <a:prstGeom prst="rect">
            <a:avLst/>
          </a:prstGeom>
        </p:spPr>
      </p:pic>
      <p:pic>
        <p:nvPicPr>
          <p:cNvPr id="432" name="Image 4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9025" y="321945"/>
            <a:ext cx="3070860" cy="45796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26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</a:t>
            </a:r>
            <a:endParaRPr lang="en-IN" alt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6" name="1-python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395" y="869315"/>
            <a:ext cx="6071235" cy="3828415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6237605" y="3521075"/>
            <a:ext cx="2734945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 u="sng">
                <a:latin typeface="Calibri" panose="020F0502020204030204" pitchFamily="34" charset="0"/>
                <a:cs typeface="Calibri" panose="020F0502020204030204" pitchFamily="34" charset="0"/>
              </a:rPr>
              <a:t>Python Code:-</a:t>
            </a:r>
            <a:endParaRPr lang="en-US" sz="1600" b="1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giving dataset(fresh and mold) -&gt; generate graph and ip address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26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</a:t>
            </a:r>
            <a:endParaRPr lang="en-IN" alt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36" name="2-arduino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855" y="869950"/>
            <a:ext cx="5940425" cy="3902710"/>
          </a:xfrm>
          <a:prstGeom prst="rect">
            <a:avLst/>
          </a:prstGeom>
        </p:spPr>
      </p:pic>
      <p:sp>
        <p:nvSpPr>
          <p:cNvPr id="40" name="Text Box 39"/>
          <p:cNvSpPr txBox="1"/>
          <p:nvPr/>
        </p:nvSpPr>
        <p:spPr>
          <a:xfrm>
            <a:off x="6130290" y="2959100"/>
            <a:ext cx="2742565" cy="1282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 u="sng"/>
              <a:t>Arduino Code:-</a:t>
            </a:r>
            <a:endParaRPr lang="en-US" b="1" u="sng"/>
          </a:p>
          <a:p>
            <a:r>
              <a:rPr lang="en-US"/>
              <a:t>code installed in ESP32-CAM -&gt; generates ip address of arduino </a:t>
            </a:r>
            <a:endParaRPr lang="en-US"/>
          </a:p>
          <a:p>
            <a:r>
              <a:rPr lang="en-US"/>
              <a:t>python model and arduino code is connected through laptop ip address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254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4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606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</a:t>
            </a:r>
            <a:endParaRPr lang="en-IN" alt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5" name="3-web app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315" y="868680"/>
            <a:ext cx="6746240" cy="395097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228600" y="109728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</a:t>
            </a:r>
            <a:endParaRPr lang="en-IN" altLang="en-US" sz="2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853555" y="3426460"/>
            <a:ext cx="236855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 u="sng">
                <a:latin typeface="Calibri" panose="020F0502020204030204" pitchFamily="34" charset="0"/>
                <a:cs typeface="Calibri" panose="020F0502020204030204" pitchFamily="34" charset="0"/>
              </a:rPr>
              <a:t>Web App:-</a:t>
            </a:r>
            <a:endParaRPr lang="en-US" sz="1600" b="1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putting ip address of arduino to run -&gt; check whether bread is fresh or mold by analysing image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E2D"/>
          </a:solidFill>
          <a:ln w="12700">
            <a:solidFill>
              <a:srgbClr val="0A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8595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u="sng" kern="0" spc="400" dirty="0">
                <a:solidFill>
                  <a:srgbClr val="14BD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000" b="1" u="sng" kern="0" spc="400" dirty="0">
              <a:solidFill>
                <a:srgbClr val="14BDB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7315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The system detects bread quality using MQ135 gas sensor based on threshold values.</a:t>
            </a:r>
            <a:endParaRPr lang="en-US" altLang="en-US" sz="125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184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1664208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Gas sensor readings increase with bread spoilage, enabling effective detection.</a:t>
            </a:r>
            <a:endParaRPr lang="en-US" altLang="en-US" sz="125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768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2322576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The system provides real-time alerts using LED and buzzer indicators.</a:t>
            </a:r>
            <a:endParaRPr lang="en-US" altLang="en-US" sz="125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3522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2980944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The implementation is low-cost and suitable for practical applications.</a:t>
            </a:r>
            <a:endParaRPr lang="en-US" altLang="en-US" sz="1250" b="1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593592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935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363931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Reference image analysis is included for conceptual understanding of AI-based detection.</a:t>
            </a:r>
            <a:endParaRPr lang="en-US" altLang="en-US" sz="1250" b="1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4251960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519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4297680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Future work includes integration of image-based AI models and IoT-based monitoring.</a:t>
            </a:r>
            <a:endParaRPr lang="en-US" altLang="en-US" sz="1250" b="1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2880" y="4773168"/>
            <a:ext cx="8778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Ramaiah Institute of Technology  |  Dept. of Electronics &amp; Instrumentation Engineering  |  2025–26</a:t>
            </a:r>
            <a:endParaRPr lang="en-US" sz="900" b="1" dirty="0">
              <a:solidFill>
                <a:srgbClr val="5A7A8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Text Box 43"/>
          <p:cNvSpPr txBox="1"/>
          <p:nvPr/>
        </p:nvSpPr>
        <p:spPr>
          <a:xfrm>
            <a:off x="631190" y="2368550"/>
            <a:ext cx="7896860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en-US" alt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Samay Thakur(EI044) | Vinod Naik(EI404) | Naveen L(EI034) | Subham Kumar Singh(E1053)</a:t>
            </a:r>
            <a:endParaRPr lang="en-US" altLang="en-GB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endParaRPr lang="en-US" altLang="en-GB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endParaRPr lang="en-US" altLang="en-GB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endParaRPr lang="en-US" altLang="en-GB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2039620" y="1663700"/>
            <a:ext cx="532384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400" b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/>
                <a:cs typeface="Calibri" panose="020F0502020204030204" pitchFamily="34" charset="0"/>
              </a:rPr>
              <a:t>AI-Based Bread Quality Indicator System</a:t>
            </a:r>
            <a:endParaRPr lang="en-US" altLang="zh-CN" sz="2400" b="1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/>
              <a:cs typeface="Calibri" panose="020F0502020204030204" pitchFamily="3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3279775" y="2988945"/>
            <a:ext cx="2741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400" b="1"/>
              <a:t>THANK YOU</a:t>
            </a:r>
            <a:endParaRPr lang="en-IN" altLang="en-US" sz="24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7337</Words>
  <Application>WPS Presentation</Application>
  <PresentationFormat>On-screen Show (16:9)</PresentationFormat>
  <Paragraphs>401</Paragraphs>
  <Slides>25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Times New Roman</vt:lpstr>
      <vt:lpstr>Calibri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Bread Quality Indicator System</dc:title>
  <dc:creator>PptxGenJS</dc:creator>
  <dc:subject>PptxGenJS Presentation</dc:subject>
  <cp:lastModifiedBy>Samay Thakur</cp:lastModifiedBy>
  <cp:revision>19</cp:revision>
  <dcterms:created xsi:type="dcterms:W3CDTF">2026-03-31T18:46:00Z</dcterms:created>
  <dcterms:modified xsi:type="dcterms:W3CDTF">2026-05-22T05:05:18Z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A336125755EB4A5892BCC97823B1AD11_13</vt:lpwstr>
  </property>
</Properties>
</file>